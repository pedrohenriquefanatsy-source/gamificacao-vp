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I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2778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Gamificação do Acompanhamento Estratégico · Produtiva Júnior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B2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VICE-PRESIDÊNCIA · PRODUTIVA JÚNIOR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64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Gamificação do Acompanhamento Estratégico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5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apresentação do protótipo: o que é, como funciona e como usar cada tela</a:t>
            </a:r>
            <a:endParaRPr lang="en-US" sz="1400" dirty="0"/>
          </a:p>
        </p:txBody>
      </p:sp>
      <p:pic>
        <p:nvPicPr>
          <p:cNvPr id="5" name="Image 0" descr="Tela de Ranking do protó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6464808" cy="40405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9317736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deste relatório são de uma base de demonstração (dados fictícios). As regras de pontuação são uma proposta em validação, e os valores do PIPJ são ilustrativos.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Objetivo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relatório apresenta o protótipo do módulo de Gamificação do Acompanhamento Estratégico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proposto no Plano de Ação da Vice-Presidência (OKR 1, KR 1.2). O módulo é uma nova área do sistema estratégico da VP. Ele transforma o registro das atividades dos núcleos em pontos, ranking e indicadores, e liga esse resultado ao reconhecimento na RG e ao PIPJ.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protótipo serve para mostrar à diretoria e aos núcleos como a proposta funcionaria na prática, antes de qualquer desenvolvimento definitivo.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 problema que a gamificação resolve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 gerente da VP acompanha o tático de cada núcleo a cada 15 dias e no início de cada batalha. As atividades são registradas no Monday, mas: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6464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existem indicadores para comparar a execução dos núcleos;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 atividade é feita e não é registrada, e por isso não aparece no acompanhamento;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um incentivo claro para manter o status das atividades atualizado.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0352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gamificação cria esse incentivo: registrar e cumprir prazos passa a dar pontos ao núcleo, e deixar atividades sem registro ou com status desatualizado tira pontos.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2063496" cy="1463040"/>
          </a:xfrm>
          <a:prstGeom prst="roundRect">
            <a:avLst>
              <a:gd name="adj" fmla="val 500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6355080"/>
            <a:ext cx="1789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núcleos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720840"/>
            <a:ext cx="1789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competição é entre núcleos, não entre pessoas. Não existe ranking individual.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9296" y="6217920"/>
            <a:ext cx="2063496" cy="1463040"/>
          </a:xfrm>
          <a:prstGeom prst="roundRect">
            <a:avLst>
              <a:gd name="adj" fmla="val 500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6456" y="6355080"/>
            <a:ext cx="1789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validação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86456" y="6720840"/>
            <a:ext cx="1789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regras são uma proposta e podem mudar antes da implantação.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49952" y="6217920"/>
            <a:ext cx="2063496" cy="1463040"/>
          </a:xfrm>
          <a:prstGeom prst="roundRect">
            <a:avLst>
              <a:gd name="adj" fmla="val 500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7112" y="6355080"/>
            <a:ext cx="1789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PIPJ ilustrativo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87112" y="6720840"/>
            <a:ext cx="1789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bônus no PIPJ depende de aprovação da diretoria.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Como funciona, em 4 etapas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9496" y="1133856"/>
            <a:ext cx="6483096" cy="405879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Tela &quot;Como funciona&quot;: a linha lógica do módulo, do Monday ao PIPJ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464808" cy="40405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56657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"Como funciona": a linha lógica do módulo, do Monday ao PIPJ.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5622417"/>
            <a:ext cx="502920" cy="502920"/>
          </a:xfrm>
          <a:prstGeom prst="ellipse">
            <a:avLst/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6224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5604129"/>
            <a:ext cx="5779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5878449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membros registram as atividades do núcleo, como já fazem hoje.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6491097"/>
            <a:ext cx="502920" cy="502920"/>
          </a:xfrm>
          <a:prstGeom prst="ellipse">
            <a:avLst/>
          </a:prstGeom>
          <a:solidFill>
            <a:srgbClr val="2CC6EA"/>
          </a:solidFill>
          <a:ln w="12700">
            <a:solidFill>
              <a:srgbClr val="2C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9109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6472809"/>
            <a:ext cx="5779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Gamificação no sistema estratégico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6747129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quinzena, o sistema calcula os pontos, o índice de cada núcleo, o ranking e os indicadores.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7359777"/>
            <a:ext cx="502920" cy="502920"/>
          </a:xfrm>
          <a:prstGeom prst="ellipse">
            <a:avLst/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735977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7341489"/>
            <a:ext cx="5779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Reconhecimento na RG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7615809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núcleo campeão e o núcleo que mais evoluiu são reconhecidos e registrados na ata.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8228457"/>
            <a:ext cx="502920" cy="502920"/>
          </a:xfrm>
          <a:prstGeom prst="ellipse">
            <a:avLst/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822845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8210169"/>
            <a:ext cx="5779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PIPJ na Área do Membro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8484489"/>
            <a:ext cx="5779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membros dos núcleos reconhecidos recebem um bônus no saldo do PIPJ, depois da aprovação do diretor.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Núcleos e estrutura de cargos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ranking considera cinco núcleos, cada um com sua estrutura de cargos: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64808" cy="914400"/>
        </p:xfrm>
        <a:graphic>
          <a:graphicData uri="http://schemas.openxmlformats.org/drawingml/2006/table">
            <a:tbl>
              <a:tblPr/>
              <a:tblGrid>
                <a:gridCol w="2585923"/>
                <a:gridCol w="3878885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Estrutura de cargos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Presidência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 – Assessor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Vice-Presidência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 – Gerente – Assessor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 – Gerente – Consultor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 – Closer – SDR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 – Gerente – Assessor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6616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Regras de pontuação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5196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atividade da quinzena recebe uma regra, de acordo com a situação em que está: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6464808" cy="914400"/>
        </p:xfrm>
        <a:graphic>
          <a:graphicData uri="http://schemas.openxmlformats.org/drawingml/2006/table">
            <a:tbl>
              <a:tblPr/>
              <a:tblGrid>
                <a:gridCol w="840425"/>
                <a:gridCol w="4654662"/>
                <a:gridCol w="969721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 e registrada até o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 e registrada depois do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Feita e não registrada (lançada pela VP no acompanhamento)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vencido com status desatualizado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Bônus: acompanhamento sem ponto de atenção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Bônus: plano de ação concluído no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76656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do índice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7132320"/>
            <a:ext cx="6464808" cy="548640"/>
          </a:xfrm>
          <a:prstGeom prst="roundRect">
            <a:avLst>
              <a:gd name="adj" fmla="val 1000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7132320"/>
            <a:ext cx="6099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= (soma dos pontos R1 a R4 + bônus) ÷ nº de atividades da quinzena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7863840"/>
            <a:ext cx="6464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 pelo número de atividades torna a comparação justa entre núcleos de tamanhos diferentes. Por isso o ranking usa o índice, e não o total de pontos. Na demonstração, Projetos tem mais pontos (73) que a Presidência (64), mas fica em 2º lugar porque fez mais atividades (30 contra 24).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cálculo: Presidência, Quinzena 4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6464808" cy="914400"/>
        </p:xfrm>
        <a:graphic>
          <a:graphicData uri="http://schemas.openxmlformats.org/drawingml/2006/table">
            <a:tbl>
              <a:tblPr/>
              <a:tblGrid>
                <a:gridCol w="2198035"/>
                <a:gridCol w="1422258"/>
                <a:gridCol w="1292962"/>
                <a:gridCol w="155155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(bônus)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pontos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91840"/>
            <a:ext cx="2063496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401568"/>
            <a:ext cx="206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05072"/>
            <a:ext cx="206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9296" y="3291840"/>
            <a:ext cx="2063496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9296" y="3401568"/>
            <a:ext cx="206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24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749296" y="4005072"/>
            <a:ext cx="206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49952" y="3291840"/>
            <a:ext cx="2063496" cy="1097280"/>
          </a:xfrm>
          <a:prstGeom prst="roundRect">
            <a:avLst>
              <a:gd name="adj" fmla="val 6667"/>
            </a:avLst>
          </a:prstGeom>
          <a:solidFill>
            <a:srgbClr val="ECFBFE"/>
          </a:solidFill>
          <a:ln w="12700">
            <a:solidFill>
              <a:srgbClr val="A5E9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49952" y="3401568"/>
            <a:ext cx="206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2,67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949952" y="4005072"/>
            <a:ext cx="2063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70916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Desempate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7492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percentual de atividades entregues no prazo (R1 ÷ atividades).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atividades atrasadas (R3 + R4).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2356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 dos indicadores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60350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989320"/>
            <a:ext cx="6099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igual ou acima da meta.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64190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6373368"/>
            <a:ext cx="6099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Amarelo: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10 pontos percentuais abaixo da meta.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680313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6757416"/>
            <a:ext cx="6099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Vermelho: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10 pontos percentuais abaixo da meta.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7315200"/>
            <a:ext cx="6464808" cy="356616"/>
          </a:xfrm>
          <a:prstGeom prst="roundRect">
            <a:avLst>
              <a:gd name="adj" fmla="val 15385"/>
            </a:avLst>
          </a:prstGeom>
          <a:solidFill>
            <a:srgbClr val="ECFBFE"/>
          </a:solidFill>
          <a:ln w="9525">
            <a:solidFill>
              <a:srgbClr val="A5E9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7315200"/>
            <a:ext cx="6190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indicador vermelho por duas quinzenas seguidas vai para a pauta da RN (Reunião de Núcleos).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Navegação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módulo aparece como uma nova seção,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GAMIFICAÇÃO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 barra lateral do sistema estratégico. Os itens atuais do sistema (Dashboard, Análise SWOT, Batalhas etc.) aparecem esmaecidos, só para mostrar onde o módulo se encaixa.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464808" cy="914400"/>
        </p:xfrm>
        <a:graphic>
          <a:graphicData uri="http://schemas.openxmlformats.org/drawingml/2006/table">
            <a:tbl>
              <a:tblPr/>
              <a:tblGrid>
                <a:gridCol w="1745498"/>
                <a:gridCol w="1745498"/>
                <a:gridCol w="29738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mostra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funciona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Apresentação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linha lógica do módulo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 dos núcleos, destaques e evolução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Pontos, indicadores, pendências e estrutura de um núcleo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 e o próprio membro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Atividades e contribuição, sem comparação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e assessores da VP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indicadores e pontos de atenção para a 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Regras, fórmula, semáforo e pendências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do Membro · PIPJ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Membro (outro sistema)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Carteira PIPJ e bônus de reconhecimento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82896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também funciona no celular: a barra lateral vira um menu que abre pelo botão no topo.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539746" y="5239512"/>
            <a:ext cx="2067562" cy="44531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Image 0" descr="Ranking no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890" y="5248656"/>
            <a:ext cx="2049274" cy="4434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954780" y="5239512"/>
            <a:ext cx="2067562" cy="44531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9" name="Image 1" descr="Menu aberto no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924" y="5248656"/>
            <a:ext cx="2049274" cy="4434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975664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2.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celular: ranking (à esquerda) e menu lateral aberto (à direita).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Tela Ranking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tela inicial do módulo.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9496" y="1499616"/>
            <a:ext cx="6483096" cy="405879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Topo da tela Ranking: cabeçalho da batalha, pódio e destaqu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464808" cy="40405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22417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3.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 da tela Ranking: cabeçalho da batalha, pódio e destaques.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8177"/>
            <a:ext cx="64648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da batalha: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#3 (1 set. a 30 nov. 2026), quinzena atual (4 de 6) e progresso da batalha (66%).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Pódio: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primeiros núcleos com o índice em destaque. Na Quinzena 4: Presidência (2,67), Projetos (2,43) e Gestão de Pessoas (2,30).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da quinzena: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Presidência, com 64 pontos em 24 atividades e 83% no prazo.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evoluiu: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Pessoas, cujo índice subiu 0,45 (de 1,85 para 2,30).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atenção: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com entrega no prazo em 60% pela 2ª quinzena. O texto é construtivo: atualizar a atividade vencida soma 2 pontos e leva o índice a 1,80.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Tela Ranking (continuação)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681843" y="1133856"/>
            <a:ext cx="4198402" cy="45902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Tela Ranking completa, com tabela e gráfico de evolu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987" y="1143000"/>
            <a:ext cx="418011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88152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4.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Ranking completa, com tabela e gráfico de evolução.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153912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do ranking: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posição, variação desde a quinzena anterior, núcleo, índice, pontos, atividades e % no prazo. Clicar numa linha abre o núcleo.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de evolução: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índice de cada núcleo da Q1 à Q4.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Alternador Quinzena atual / Acumulado da batalha: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a tabela pela visão acumulada, com o índice de cada quinzena e a média.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31545" y="7424928"/>
            <a:ext cx="569899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1" descr="Visão &quot;Acumulado da batalha&quot;. O critério (média simples) ainda é uma configuração pendent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89" y="7434072"/>
            <a:ext cx="5680710" cy="1920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9427464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5.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"Acumulado da batalha". O critério (média simples) ainda é uma configuração pendente.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Tela Núcleos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tudo o que um núcleo precisa saber sobre a sua quinzena. O seletor no topo troca o núcleo.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5717" y="1499616"/>
            <a:ext cx="6310655" cy="4956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Tela do núcleo Projet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861" y="1508760"/>
            <a:ext cx="6292367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9672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6.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do núcleo Projetos.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885432"/>
            <a:ext cx="64648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tático, estrutura de cargos, posição, índice e atividades no prazo, com a barra da situação das atividades.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da quinzena: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completa, regra por regra (quantidade × peso = subtotal), mais os bônus, até o índice.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recuperar pontos: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 vencidas e quanto cada uma vale se for concluída e registrada (+2, de R4 para R2).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gerais + 1 próprio, com valor, meta e semáforo. Vermelho pela 2ª quinzena ganha "Vai para a pauta da RN".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 membros: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cargos em ordem hierárquica, com os membros da demonstração em cada nível.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Tela Núcleos (exemplo com alerta)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9496" y="1133856"/>
            <a:ext cx="6483096" cy="523053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Núcleo Marketing (Diretor – Closer – SDR), com &quot;entrega no prazo&quot; vermelha pela 2ª quinze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464808" cy="52122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28403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7.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Marketing (Diretor – Closer – SDR), com "entrega no prazo" vermelha pela 2ª quinzena.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6794163"/>
            <a:ext cx="6464808" cy="704088"/>
          </a:xfrm>
          <a:prstGeom prst="roundRect">
            <a:avLst>
              <a:gd name="adj" fmla="val 7792"/>
            </a:avLst>
          </a:prstGeom>
          <a:solidFill>
            <a:srgbClr val="ECFBFE"/>
          </a:solidFill>
          <a:ln w="9525">
            <a:solidFill>
              <a:srgbClr val="A5E9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794163"/>
            <a:ext cx="6190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exemplo, Marketing tem 9 de 15 atividades no prazo (60%, meta 80%). Como o indicador já estava vermelho na quinzena anterior, ele recebe a etiqueta "Vai para a pauta da RN". A seção "Para recuperar pontos" mostra que atualizar a atividade vencida leva o índice de 1,67 para 1,80.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Tela Membros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a quinzena de um membro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posição individual e sem comparação com outros membros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Os pontos de cada pessoa contam para o núcleo.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9496" y="1682496"/>
            <a:ext cx="6483096" cy="42922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Tela do membro João Pedro (Assessor · Presidência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464808" cy="42739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3874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8.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do membro João Pedro (Assessor · Presidência).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4508"/>
            <a:ext cx="6464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da quinzena: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atividades, concluídas no prazo, fora do prazo e pendentes/vencidas.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 atividades: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no estilo das Ações Operacionais, com status, prazo, etiqueta, objetivo vinculado e a regra aplicada.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para o núcleo: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"Suas atividades somaram 16 dos 64 pontos do núcleo Presidência".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Reconhecimento: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se o núcleo está na zona de reconhecimento e leva para a Área do Membro · PIPJ.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Tela Indicadores (visão da VP)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ferramenta de trabalho da gerente e dos assessores da VP para preparar a RN.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8749" y="1499616"/>
            <a:ext cx="6444589" cy="44988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Tela Indicadores: matriz, detalhe da célula e texto para a R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93" y="1508760"/>
            <a:ext cx="6426301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62472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9.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Indicadores: matriz, detalhe da célula e texto para a RN.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28232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núcleos × indicadores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cor do semáforo em cada célula.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 da célula: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fórmula, numerador, denominador, resultado e meta. Ex.: Marketing, no prazo = 9 ÷ 15 = 60%.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"Copiar pontos de atenção para a RN":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um texto pronto, como "Marketing: entrega no prazo 60% (meta 80%), vermelho pela 2ª quinzena".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708392"/>
          <a:ext cx="6464808" cy="914400"/>
        </p:xfrm>
        <a:graphic>
          <a:graphicData uri="http://schemas.openxmlformats.org/drawingml/2006/table">
            <a:tbl>
              <a:tblPr/>
              <a:tblGrid>
                <a:gridCol w="1551554"/>
                <a:gridCol w="3878885"/>
                <a:gridCol w="1034369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(atividades − R3) ÷ atividades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÷ atividades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Planos no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planos concluídos no prazo ÷ planos com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acompanhamentos realizados ÷ previstos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Próprio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definido por cada núcleo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núcleo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Tela Regras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Reúne as regras R1 a R6 (com a etiqueta "Proposta em validação"), a fórmula do índice, o desempate, o semáforo e os critérios de reconhecimento.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8960" y="1682496"/>
            <a:ext cx="5464168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Tela Regr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4" y="1691640"/>
            <a:ext cx="5445880" cy="5120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885432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10.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Regras.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25119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pendentes (decisão da diretoria)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616952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antes ou depois da divisão: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demonstração, entra antes da divisão.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bônus no PIPJ: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demonstração, R$ 30,00 (campeão) e R$ 15,00 (mais evoluiu), por membro.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Participação da VP no ranking: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demonstração, a VP participa como núcleo.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do campeão da batalha: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quinzena ou média acumulada.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Reconhecimento e PIPJ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 de cada batalha, dois núcleos entram na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reconhecimento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40964" cy="1371600"/>
          </a:xfrm>
          <a:prstGeom prst="roundRect">
            <a:avLst>
              <a:gd name="adj" fmla="val 5333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2775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campeão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84248"/>
            <a:ext cx="2775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do ranking. Na demonstração: Presidência.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ilustrativo: R$ 30,00 por membro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2484" y="1508760"/>
            <a:ext cx="3140964" cy="1371600"/>
          </a:xfrm>
          <a:prstGeom prst="roundRect">
            <a:avLst>
              <a:gd name="adj" fmla="val 5333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55364" y="1645920"/>
            <a:ext cx="2775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C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que mais evoluiu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55364" y="1984248"/>
            <a:ext cx="2775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aumento do índice. Na demonstração: Gestão de Pessoas (+0,45).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55364" y="2514600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ilustrativo: R$ 15,00 por membro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reconhecimento é registrado na ata da RG. Além disso, pode virar um bônus de reconhecimento no crédito do PIPJ de cada membro do núcleo, desde que o diretor aprove.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6464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PIPJ fica em outro sistema, a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Membro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Lá o membro tem uma carteira com créditos para gastos de desenvolvimento: até R$ 300,00 por pedido, com comprovante, nas categorias capacitação, papelaria, MEJ, eventos sênior e tecnologia. A gamificação não aparece na Área do Membro: o membro só vê o efeito dela, o aumento do saldo pelo bônus.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" y="4928616"/>
            <a:ext cx="6483096" cy="435509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5" name="Image 0" descr="Área do Membro de João Pedro: saldo de R$ 150,00 e saldo previsto de R$ 180,00 com o bônu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937760"/>
            <a:ext cx="6464808" cy="433680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48640" y="9347721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11.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Membro de João Pedro: saldo de R$ 150,00 e saldo previsto de R$ 180,00 com o bônus.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Área do Membro · PIPJ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tela simula o outro sistema: visual diferente, sem a barra lateral da VP, e um botão para voltar ao sistema estratégico.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64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PIPJ: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atual e, em destaque, o aumento previsto pelo bônus.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de reconhecimento: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"Previsto — depende do fechamento da Battle #3 e da aprovação do diretor". Quem não está num núcleo reconhecido vê "Seu núcleo ainda não está na zona de reconhecimento nesta batalha".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retirada: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demonstrativo com categoria, valor (até R$ 300,00), justificativa e comprovante. Ao enviar: "Solicitação simulada — nenhuma operação real foi feita".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40764" y="3328416"/>
            <a:ext cx="4480560" cy="28072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6" name="Image 0" descr="Área do Membro de Lucas Gabriel (Vice-Presidência), sem bônus previs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3337560"/>
            <a:ext cx="4462272" cy="2788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199632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12.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Membro de Lucas Gabriel (Vice-Presidência), sem bônus previsto.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40764" y="6556248"/>
            <a:ext cx="4480560" cy="28072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9" name="Image 1" descr="Formulário de solicitação de retirada (demonstrativo)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08" y="6565392"/>
            <a:ext cx="4462272" cy="2788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9427464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13.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 solicitação de retirada (demonstrativo).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Resultado da Quinzena 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da demonstração: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64808" cy="914400"/>
        </p:xfrm>
        <a:graphic>
          <a:graphicData uri="http://schemas.openxmlformats.org/drawingml/2006/table">
            <a:tbl>
              <a:tblPr/>
              <a:tblGrid>
                <a:gridCol w="517185"/>
                <a:gridCol w="1810146"/>
                <a:gridCol w="711129"/>
                <a:gridCol w="646481"/>
                <a:gridCol w="840425"/>
                <a:gridCol w="775777"/>
                <a:gridCol w="1163665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5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Presidência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subiu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caiu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subiu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Vice-Presidência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caiu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02736"/>
            <a:ext cx="6464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reconhecimento (previsão):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Presidência (campeã) e Gestão de Pessoas (mais evoluiu, +0,45).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atenção para a RN: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com entrega no prazo vermelha pela 2ª quinzena seguida.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08576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Próximos passos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94376"/>
            <a:ext cx="6464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as regras de pontuação e as metas com a diretoria.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as configurações pendentes (bônus, valor no PIPJ, participação da VP e critério do campeão).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indicador próprio de cada núcleo.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como os dados do Monday chegam ao sistema estratégico.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o uso do bônus de reconhecimento no PIPJ.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848856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Acesso ao protótipo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7534656"/>
            <a:ext cx="6464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protótipo está publicado na Vercel e pode ser incorporado no Google Sites (Inserir → Incorporar → URL). Ele abre direto na tela de Ranking, sem login, e não tem nenhuma integração real: todos os dados são fictícios e ficam só na página.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8449056"/>
            <a:ext cx="6464808" cy="356616"/>
          </a:xfrm>
          <a:prstGeom prst="roundRect">
            <a:avLst>
              <a:gd name="adj" fmla="val 15385"/>
            </a:avLst>
          </a:prstGeom>
          <a:solidFill>
            <a:srgbClr val="ECFBFE"/>
          </a:solidFill>
          <a:ln w="9525">
            <a:solidFill>
              <a:srgbClr val="A5E9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8449056"/>
            <a:ext cx="6190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Endereço: [inserir a URL gerada pela Vercel]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64808" y="10277856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Gamificação do Acompanhamento Estratégico</dc:title>
  <dc:subject>PptxGenJS Presentation</dc:subject>
  <dc:creator>Vice-Presidência · Produtiva Júnior</dc:creator>
  <cp:lastModifiedBy>Vice-Presidência · Produtiva Júnior</cp:lastModifiedBy>
  <cp:revision>1</cp:revision>
  <dcterms:created xsi:type="dcterms:W3CDTF">2026-10-19T19:51:29Z</dcterms:created>
  <dcterms:modified xsi:type="dcterms:W3CDTF">2026-10-19T19:51:29Z</dcterms:modified>
</cp:coreProperties>
</file>